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7"/>
  </p:normalViewPr>
  <p:slideViewPr>
    <p:cSldViewPr snapToGrid="0" snapToObjects="1">
      <p:cViewPr varScale="1">
        <p:scale>
          <a:sx n="112" d="100"/>
          <a:sy n="112" d="100"/>
        </p:scale>
        <p:origin x="60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064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Presentación del reto. El objetivo de hoy es que quede claro el problema, las restricciones y los seis entregables. No vamos a describir la solución esperada.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Recorrido de 15 minutos. Al final quedan los seis entregables y el formato de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se espera usar datos sensibles ni señales individuales de telecomunicaciones de forma incompatible con consentimiento, finalidad o regulación.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es la pregunta que debe responder toda la presentación del candidato. Todo lo demás es soporte.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Debe poder sostener la conversación con ingeniería y con un CEO en la misma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Ejemplos de relaciones: PyME A tiene relación económica con PyME B; A pertenece a una industria; A opera en una zona; A es cliente de la Telco con un producto; B es proveedor o distribuidor de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Crédito y riesgo solo con fundamento legal, datos apropiados, explicabilidad y controles específicos. Se valora la decisión de por dónde empezar.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score no es el entregable: la decisión comercial y su validación sí lo 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Incluir tecnologías de moda sin justificación no aporta. Arquitecturas distintas pueden ser excelentes si las decisiones están justificadas.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Control Tower es obligatoria y debe encadenar Model performance a Decision, a Commercial action, a Economic outcome. Puede ser dashboard funcional o prototipo.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Entre qualified leads y conversiones hay 8,000 contactos activados. El funnel debe ser segmentable por industria, geografía, cluster, producto, canal, score y periodo.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Entrega: brief de 2 a 3 páginas con contexto, reto, restricciones y entregables, más la presentación de la propuesta.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Tras la presentación habrá un ejercicio adicional en vivo con perspectiva de CEO. No hay una única respuesta correcta.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377440"/>
            <a:ext cx="896390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400" b="1">
                <a:solidFill>
                  <a:srgbClr val="F2F4F7"/>
                </a:solidFill>
                <a:latin typeface="Helvetica Neue"/>
              </a:defRPr>
            </a:pPr>
            <a:r>
              <a:t>SME Economic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767328"/>
            <a:ext cx="2011680" cy="36576"/>
          </a:xfrm>
          <a:prstGeom prst="rect">
            <a:avLst/>
          </a:prstGeom>
          <a:solidFill>
            <a:srgbClr val="5B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977640"/>
            <a:ext cx="7382042" cy="67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98A2B3"/>
                </a:solidFill>
                <a:latin typeface="Helvetica Neue"/>
              </a:defRPr>
            </a:pPr>
            <a:r>
              <a:t>Reto de evaluación para AI Engineer — De datos Telco a inteligencia económica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822960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2F4F7"/>
                </a:solidFill>
                <a:latin typeface="Helvetica Neue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18488"/>
            <a:ext cx="2011680" cy="36576"/>
          </a:xfrm>
          <a:prstGeom prst="rect">
            <a:avLst/>
          </a:prstGeom>
          <a:solidFill>
            <a:srgbClr val="5B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Contexto de negocio y oportunidad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La pregunta central del reto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El Economic Graph como representación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Casos de uso y ejemplo comercial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Libertad tecnológica y expectativas de ingeniería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Control Tower, incrementalidad y entregables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822960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2F4F7"/>
                </a:solidFill>
                <a:latin typeface="Helvetica Neue"/>
              </a:defRPr>
            </a:pPr>
            <a:r>
              <a:t>Contexto de negocio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18488"/>
            <a:ext cx="2011680" cy="36576"/>
          </a:xfrm>
          <a:prstGeom prst="rect">
            <a:avLst/>
          </a:prstGeom>
          <a:solidFill>
            <a:srgbClr val="5B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044287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Señales disponibles bajo permisos, privacidad y gobierno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Productos contratados, ubicación, industria y consumo de servicios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Interacciones comerciales, comportamiento temporal y fuentes externas autorizadas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Hoy cada PyME se analiza como una entidad independiente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La oportunidad es leerla como parte de un ecosistema interconectado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1828800"/>
            <a:ext cx="5044287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822960"/>
            <a:ext cx="10545775" cy="1819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2F4F7"/>
                </a:solidFill>
                <a:latin typeface="Helvetica Neue"/>
              </a:defRPr>
            </a:pPr>
            <a:r>
              <a:t>¿Cómo construirías un Economic Graph de PyMEs para una Telco y cómo demostrarías que genera valor económico incremental?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752344"/>
            <a:ext cx="2011680" cy="36576"/>
          </a:xfrm>
          <a:prstGeom prst="rect">
            <a:avLst/>
          </a:prstGeom>
          <a:solidFill>
            <a:srgbClr val="5B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2962656"/>
            <a:ext cx="5044287" cy="30723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82296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5B9DFF"/>
                </a:solidFill>
                <a:latin typeface="Helvetica Neue"/>
              </a:defRPr>
            </a:pPr>
            <a:r>
              <a:t>Lo que no es este reto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8436620" cy="4809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600" b="1">
                <a:solidFill>
                  <a:srgbClr val="F2F4F7"/>
                </a:solidFill>
                <a:latin typeface="Helvetica Neue"/>
              </a:defRPr>
            </a:pPr>
            <a:r>
              <a:t>El reto no es una arquitectura técnica: es traducir una oportunidad de negocio en datos, grafo, modelos, decisiones e impacto económico medible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822960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2F4F7"/>
                </a:solidFill>
                <a:latin typeface="Helvetica Neue"/>
              </a:defRPr>
            </a:pPr>
            <a:r>
              <a:t>El grafo como representación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18488"/>
            <a:ext cx="2011680" cy="36576"/>
          </a:xfrm>
          <a:prstGeom prst="rect">
            <a:avLst/>
          </a:prstGeom>
          <a:solidFill>
            <a:srgbClr val="5B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044287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Qué entidades son nodos y qué relaciones son edges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Qué atributos pertenecen al nodo y qué atributos a la relación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Relación económica, sectorial, geográfica y comercial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Provenance, timestamp y confidence score en cada arista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Cómo se mantiene y actualiza el grafo en producción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1828800"/>
            <a:ext cx="5044287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822960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2F4F7"/>
                </a:solidFill>
                <a:latin typeface="Helvetica Neue"/>
              </a:defRPr>
            </a:pPr>
            <a:r>
              <a:t>Casos de uso: hay que priorizar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18488"/>
            <a:ext cx="2011680" cy="36576"/>
          </a:xfrm>
          <a:prstGeom prst="rect">
            <a:avLst/>
          </a:prstGeom>
          <a:solidFill>
            <a:srgbClr val="5B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044287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B2B Acquisition: PyMEs similares o conectadas con clientes actuales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Next Best Opportunity y cross-sell por contexto del ecosistema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Economic Communities: clusters de actividad económica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Ecosystem Expansion: proveedores y distribuidores de clusters penetrados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Churn y Retention Intelligence a partir de cambios en la red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Market Intelligence y, con fundamento legal, Credit o Risk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1828800"/>
            <a:ext cx="5044287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822960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2F4F7"/>
                </a:solidFill>
                <a:latin typeface="Helvetica Neue"/>
              </a:defRPr>
            </a:pPr>
            <a:r>
              <a:t>Ejemplo comercial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18488"/>
            <a:ext cx="2011680" cy="36576"/>
          </a:xfrm>
          <a:prstGeom prst="rect">
            <a:avLst/>
          </a:prstGeom>
          <a:solidFill>
            <a:srgbClr val="5B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044287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El grafo detecta al proveedor como altamente conectado al ecosistema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Es similar a empresas que adquieren un producto determinado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El modelo genera un Opportunity Score de 87 sobre 100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La acción es priorizar la prospección de esa PyME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Queda por explicar cómo validas que la señal mejora el proceso actual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1828800"/>
            <a:ext cx="5044287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822960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2F4F7"/>
                </a:solidFill>
                <a:latin typeface="Helvetica Neue"/>
              </a:defRPr>
            </a:pPr>
            <a:r>
              <a:t>Libertad de solución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18488"/>
            <a:ext cx="2011680" cy="36576"/>
          </a:xfrm>
          <a:prstGeom prst="rect">
            <a:avLst/>
          </a:prstGeom>
          <a:solidFill>
            <a:srgbClr val="5B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044287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Graph database, knowledge graph, embeddings o GNN son opciones, no requisitos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Link prediction, community detection, similarity, GraphRAG, LLMs, reglas o híbridos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Se espera discutir ingesta, normalización, features y actualización del grafo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Evaluación offline, serving, observabilidad, drift, costo y latencia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MLOps y GraphOps, seguridad, privacidad y gobierno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1828800"/>
            <a:ext cx="5044287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822960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2F4F7"/>
                </a:solidFill>
                <a:latin typeface="Helvetica Neue"/>
              </a:defRPr>
            </a:pPr>
            <a:r>
              <a:t>Control Tower: la cadena obligatoria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18488"/>
            <a:ext cx="2011680" cy="36576"/>
          </a:xfrm>
          <a:prstGeom prst="rect">
            <a:avLst/>
          </a:prstGeom>
          <a:solidFill>
            <a:srgbClr val="5B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5B9DFF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112264"/>
            <a:ext cx="9768535" cy="8389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>
                <a:solidFill>
                  <a:srgbClr val="F2F4F7"/>
                </a:solidFill>
                <a:latin typeface="Helvetica Neue"/>
              </a:defRPr>
            </a:pPr>
            <a:r>
              <a:t>Graph Health: cobertura, entidades resueltas, observado vs inferido, freshness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06089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5B9DFF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3060953"/>
            <a:ext cx="9768535" cy="8389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>
                <a:solidFill>
                  <a:srgbClr val="F2F4F7"/>
                </a:solidFill>
                <a:latin typeface="Helvetica Neue"/>
              </a:defRPr>
            </a:pPr>
            <a:r>
              <a:t>AI Performance: precision y recall, Precision at K, lift vs baseline, calibración, drift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54779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5B9DFF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4009643"/>
            <a:ext cx="9768535" cy="8389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>
                <a:solidFill>
                  <a:srgbClr val="F2F4F7"/>
                </a:solidFill>
                <a:latin typeface="Helvetica Neue"/>
              </a:defRPr>
            </a:pPr>
            <a:r>
              <a:t>Business Funnel: del universo de PyMEs a conversiones, segmentable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0347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5B9DFF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958333"/>
            <a:ext cx="9768535" cy="8389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>
                <a:solidFill>
                  <a:srgbClr val="F2F4F7"/>
                </a:solidFill>
                <a:latin typeface="Helvetica Neue"/>
              </a:defRPr>
            </a:pPr>
            <a:r>
              <a:t>Economic Impact: incremental revenue, margen, CAC, LTV, ROI y payback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822960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2F4F7"/>
                </a:solidFill>
                <a:latin typeface="Helvetica Neue"/>
              </a:defRPr>
            </a:pPr>
            <a:r>
              <a:t>Business funnel ilustrativo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18488"/>
            <a:ext cx="2011680" cy="36576"/>
          </a:xfrm>
          <a:prstGeom prst="rect">
            <a:avLst/>
          </a:prstGeom>
          <a:solidFill>
            <a:srgbClr val="5B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2293543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5B9DFF"/>
                </a:solidFill>
                <a:latin typeface="Helvetica Neue"/>
              </a:defRPr>
            </a:pPr>
            <a:r>
              <a:t>1,200,000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229354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>
                <a:solidFill>
                  <a:srgbClr val="98A2B3"/>
                </a:solidFill>
                <a:latin typeface="Helvetica Neue"/>
              </a:defRPr>
            </a:pPr>
            <a:r>
              <a:t>Universo de PyMEs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3703" y="2240280"/>
            <a:ext cx="2293543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5B9DFF"/>
                </a:solidFill>
                <a:latin typeface="Helvetica Neue"/>
              </a:defRPr>
            </a:pPr>
            <a:r>
              <a:t>180,000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73703" y="3657600"/>
            <a:ext cx="229354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>
                <a:solidFill>
                  <a:srgbClr val="98A2B3"/>
                </a:solidFill>
                <a:latin typeface="Helvetica Neue"/>
              </a:defRPr>
            </a:pPr>
            <a:r>
              <a:t>Oportunidades detectadas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2240280"/>
            <a:ext cx="2293543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5B9DFF"/>
                </a:solidFill>
                <a:latin typeface="Helvetica Neue"/>
              </a:defRPr>
            </a:pPr>
            <a:r>
              <a:t>35,000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3657600"/>
            <a:ext cx="229354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>
                <a:solidFill>
                  <a:srgbClr val="98A2B3"/>
                </a:solidFill>
                <a:latin typeface="Helvetica Neue"/>
              </a:defRPr>
            </a:pPr>
            <a:r>
              <a:t>Qualified 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75191" y="2240280"/>
            <a:ext cx="2293543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5B9DFF"/>
                </a:solidFill>
                <a:latin typeface="Helvetica Neue"/>
              </a:defRPr>
            </a:pPr>
            <a:r>
              <a:t>1,600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5191" y="3657600"/>
            <a:ext cx="229354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>
                <a:solidFill>
                  <a:srgbClr val="98A2B3"/>
                </a:solidFill>
                <a:latin typeface="Helvetica Neue"/>
              </a:defRPr>
            </a:pPr>
            <a:r>
              <a:t>Conversiones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822960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2F4F7"/>
                </a:solidFill>
                <a:latin typeface="Helvetica Neue"/>
              </a:defRPr>
            </a:pPr>
            <a:r>
              <a:t>Los seis entregables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18488"/>
            <a:ext cx="2011680" cy="36576"/>
          </a:xfrm>
          <a:prstGeom prst="rect">
            <a:avLst/>
          </a:prstGeom>
          <a:solidFill>
            <a:srgbClr val="5B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1 Business framing: qué problema resuelves primero, hipótesis y por qué genera valor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2 Economic Graph: nodos, edges, fuentes, entity resolution, temporalidad y confidence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3 AI/ML approach: modelos, entrenamiento, evaluación, inferencia y decisiones tecnológicas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4 Architecture: end-to-end, escalabilidad, serving, MLOps y gobierno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5 Caso económico: de inteligencia del grafo a ingresos, margen, ahorro o retención</a:t>
            </a:r>
          </a:p>
          <a:p>
            <a:pPr algn="l">
              <a:spcAft>
                <a:spcPts val="800"/>
              </a:spcAft>
              <a:defRPr sz="1800">
                <a:solidFill>
                  <a:srgbClr val="F2F4F7"/>
                </a:solidFill>
                <a:latin typeface="Helvetica Neue"/>
              </a:defRPr>
            </a:pPr>
            <a:r>
              <a:t>•  6 Control Tower: dashboard o prototipo que una desempeño técnico e impacto económico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691641"/>
            <a:ext cx="8963908" cy="1993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400" b="1">
                <a:solidFill>
                  <a:srgbClr val="F2F4F7"/>
                </a:solidFill>
                <a:latin typeface="Helvetica Neue"/>
              </a:defRPr>
            </a:pPr>
            <a:r>
              <a:rPr dirty="0"/>
              <a:t>Learn, understand, anticipate, activate, measure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169663"/>
            <a:ext cx="2011680" cy="36576"/>
          </a:xfrm>
          <a:prstGeom prst="rect">
            <a:avLst/>
          </a:prstGeom>
          <a:solidFill>
            <a:srgbClr val="5B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379976"/>
            <a:ext cx="738204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98A2B3"/>
                </a:solidFill>
                <a:latin typeface="Helvetica Neue"/>
              </a:defRPr>
            </a:pPr>
            <a:r>
              <a:rPr dirty="0"/>
              <a:t>El Economic Graph no es un fin </a:t>
            </a:r>
            <a:r>
              <a:rPr dirty="0" err="1"/>
              <a:t>tecnológico</a:t>
            </a:r>
            <a:r>
              <a:rPr dirty="0"/>
              <a:t>: es la </a:t>
            </a:r>
            <a:r>
              <a:rPr dirty="0" err="1"/>
              <a:t>capacidad</a:t>
            </a:r>
            <a:r>
              <a:rPr dirty="0"/>
              <a:t> de </a:t>
            </a:r>
            <a:r>
              <a:rPr dirty="0" err="1"/>
              <a:t>convertir</a:t>
            </a:r>
            <a:r>
              <a:rPr dirty="0"/>
              <a:t> la </a:t>
            </a:r>
            <a:r>
              <a:rPr dirty="0" err="1"/>
              <a:t>posición</a:t>
            </a:r>
            <a:r>
              <a:rPr dirty="0"/>
              <a:t> de la </a:t>
            </a:r>
            <a:r>
              <a:rPr lang="es-419" dirty="0"/>
              <a:t>Data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ecosistema</a:t>
            </a:r>
            <a:r>
              <a:rPr dirty="0"/>
              <a:t> </a:t>
            </a:r>
            <a:r>
              <a:rPr dirty="0" err="1"/>
              <a:t>PyME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valor </a:t>
            </a:r>
            <a:r>
              <a:rPr dirty="0" err="1"/>
              <a:t>económico</a:t>
            </a:r>
            <a:r>
              <a:rPr dirty="0"/>
              <a:t> incremental</a:t>
            </a:r>
            <a:r>
              <a:rPr lang="es-419" dirty="0"/>
              <a:t>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942</Words>
  <Application>Microsoft Macintosh PowerPoint</Application>
  <PresentationFormat>Panorámica</PresentationFormat>
  <Paragraphs>83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>Ritual Wave Studio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Ritual Wave Studio</dc:creator>
  <cp:keywords/>
  <dc:description>generated using python-pptx</dc:description>
  <cp:lastModifiedBy>Ritual Wave Studio</cp:lastModifiedBy>
  <cp:revision>2</cp:revision>
  <dcterms:created xsi:type="dcterms:W3CDTF">2013-01-27T09:14:16Z</dcterms:created>
  <dcterms:modified xsi:type="dcterms:W3CDTF">2026-09-08T01:29:01Z</dcterms:modified>
  <cp:category/>
</cp:coreProperties>
</file>